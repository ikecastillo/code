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  <p:sldMasterId id="2147483814" r:id="rId2"/>
  </p:sldMasterIdLst>
  <p:notesMasterIdLst>
    <p:notesMasterId r:id="rId15"/>
  </p:notesMasterIdLst>
  <p:handoutMasterIdLst>
    <p:handoutMasterId r:id="rId16"/>
  </p:handoutMasterIdLst>
  <p:sldIdLst>
    <p:sldId id="258" r:id="rId3"/>
    <p:sldId id="260" r:id="rId4"/>
    <p:sldId id="262" r:id="rId5"/>
    <p:sldId id="261" r:id="rId6"/>
    <p:sldId id="263" r:id="rId7"/>
    <p:sldId id="265" r:id="rId8"/>
    <p:sldId id="264" r:id="rId9"/>
    <p:sldId id="267" r:id="rId10"/>
    <p:sldId id="268" r:id="rId11"/>
    <p:sldId id="269" r:id="rId12"/>
    <p:sldId id="271" r:id="rId13"/>
    <p:sldId id="270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59EE2"/>
    <a:srgbClr val="004A64"/>
    <a:srgbClr val="FFCC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8" autoAdjust="0"/>
    <p:restoredTop sz="94764" autoAdjust="0"/>
  </p:normalViewPr>
  <p:slideViewPr>
    <p:cSldViewPr>
      <p:cViewPr varScale="1">
        <p:scale>
          <a:sx n="113" d="100"/>
          <a:sy n="113" d="100"/>
        </p:scale>
        <p:origin x="-126" y="-5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2010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D3B2A9-355B-4799-AC80-A7B4F3B81C93}" type="doc">
      <dgm:prSet loTypeId="urn:microsoft.com/office/officeart/2005/8/layout/process1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C716FF-2166-44F6-A79C-D7270BFFE004}" type="pres">
      <dgm:prSet presAssocID="{42D3B2A9-355B-4799-AC80-A7B4F3B81C9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59062027-582B-43F2-8286-A56708281526}" type="presOf" srcId="{42D3B2A9-355B-4799-AC80-A7B4F3B81C93}" destId="{83C716FF-2166-44F6-A79C-D7270BFFE00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DF180-6B6E-4DA9-9A71-3FEA91AE2062}" type="datetimeFigureOut">
              <a:rPr lang="en-US" smtClean="0"/>
              <a:pPr/>
              <a:t>6/19/2015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D8053-C466-4A09-9FBB-E6E4DF1E07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509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34F45-98C9-46D0-B58B-A86C1E8D8EFB}" type="datetimeFigureOut">
              <a:rPr lang="en-US" smtClean="0"/>
              <a:pPr/>
              <a:t>6/19/2015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9F798-5B9A-425C-8B6C-0548DD4598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84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emphasize on the data-flow aspects,</a:t>
            </a:r>
            <a:r>
              <a:rPr lang="en-US" baseline="0" dirty="0" smtClean="0"/>
              <a:t> an </a:t>
            </a:r>
            <a:r>
              <a:rPr lang="en-US" dirty="0" smtClean="0"/>
              <a:t>over-simplified</a:t>
            </a:r>
            <a:r>
              <a:rPr lang="en-US" baseline="0" dirty="0" smtClean="0"/>
              <a:t> representation of the architecture is shown here.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50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 flip="none" rotWithShape="1">
          <a:gsLst>
            <a:gs pos="100000">
              <a:schemeClr val="accent1">
                <a:lumMod val="76000"/>
                <a:lumOff val="24000"/>
              </a:schemeClr>
            </a:gs>
            <a:gs pos="0">
              <a:schemeClr val="bg1">
                <a:lumMod val="9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2647950"/>
            <a:ext cx="7086600" cy="80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53441" y="2647950"/>
            <a:ext cx="6233160" cy="800100"/>
          </a:xfrm>
        </p:spPr>
        <p:txBody>
          <a:bodyPr lIns="137160" rIns="137160" anchor="ctr">
            <a:noAutofit/>
          </a:bodyPr>
          <a:lstStyle>
            <a:lvl1pPr algn="l">
              <a:buNone/>
              <a:defRPr sz="24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>
          <a:xfrm>
            <a:off x="853440" y="3562350"/>
            <a:ext cx="7909560" cy="762000"/>
          </a:xfrm>
        </p:spPr>
        <p:txBody>
          <a:bodyPr lIns="137160" rIns="137160" anchor="t"/>
          <a:lstStyle>
            <a:lvl1pPr>
              <a:buNone/>
              <a:defRPr sz="2000">
                <a:solidFill>
                  <a:schemeClr val="accent3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0" y="2647950"/>
            <a:ext cx="853440" cy="80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7086600" y="2647950"/>
            <a:ext cx="2057400" cy="8001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14350" y="4833862"/>
            <a:ext cx="457200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700" dirty="0" smtClean="0">
                <a:solidFill>
                  <a:schemeClr val="tx1"/>
                </a:solidFill>
              </a:rPr>
              <a:t>© 2012 DealerTrack, Inc. All rights reserved.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7991475" y="2114549"/>
            <a:ext cx="731520" cy="731520"/>
          </a:xfrm>
          <a:prstGeom prst="rect">
            <a:avLst/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7808593" y="2495550"/>
            <a:ext cx="548641" cy="548641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8189595" y="2343150"/>
            <a:ext cx="954406" cy="1371601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8722995" y="1276350"/>
            <a:ext cx="421005" cy="533400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7401875" y="1682114"/>
            <a:ext cx="406718" cy="406718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6534150" y="3848098"/>
            <a:ext cx="406718" cy="406718"/>
          </a:xfrm>
          <a:prstGeom prst="rect">
            <a:avLst/>
          </a:prstGeom>
          <a:solidFill>
            <a:schemeClr val="accent5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>
          <a:xfrm>
            <a:off x="7667447" y="3638071"/>
            <a:ext cx="616745" cy="616745"/>
          </a:xfrm>
          <a:prstGeom prst="rect">
            <a:avLst/>
          </a:prstGeom>
          <a:solidFill>
            <a:schemeClr val="accent5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7177326" y="3576877"/>
            <a:ext cx="275748" cy="275748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8" name="Rectangle 27"/>
          <p:cNvSpPr/>
          <p:nvPr userDrawn="1"/>
        </p:nvSpPr>
        <p:spPr>
          <a:xfrm>
            <a:off x="8582977" y="4171950"/>
            <a:ext cx="406718" cy="406718"/>
          </a:xfrm>
          <a:prstGeom prst="rect">
            <a:avLst/>
          </a:prstGeom>
          <a:solidFill>
            <a:schemeClr val="accent5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13"/>
          </p:nvPr>
        </p:nvSpPr>
        <p:spPr>
          <a:xfrm>
            <a:off x="547098" y="971550"/>
            <a:ext cx="8063501" cy="3276600"/>
          </a:xfrm>
        </p:spPr>
        <p:txBody>
          <a:bodyPr/>
          <a:lstStyle>
            <a:lvl1pPr>
              <a:defRPr sz="1600" b="0" baseline="0">
                <a:solidFill>
                  <a:schemeClr val="tx1"/>
                </a:solidFill>
                <a:latin typeface=""/>
              </a:defRPr>
            </a:lvl1pPr>
            <a:lvl2pPr>
              <a:defRPr sz="1400" b="0" baseline="0">
                <a:solidFill>
                  <a:schemeClr val="accent5"/>
                </a:solidFill>
                <a:latin typeface=""/>
              </a:defRPr>
            </a:lvl2pPr>
            <a:lvl3pPr>
              <a:defRPr sz="14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3pPr>
            <a:lvl4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4pPr>
            <a:lvl5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22376" y="1200150"/>
            <a:ext cx="7772400" cy="964692"/>
          </a:xfrm>
        </p:spPr>
        <p:txBody>
          <a:bodyPr>
            <a:noAutofit/>
          </a:bodyPr>
          <a:lstStyle>
            <a:lvl1pPr algn="l">
              <a:buNone/>
              <a:defRPr sz="32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64558"/>
            <a:ext cx="7772400" cy="1132284"/>
          </a:xfrm>
        </p:spPr>
        <p:txBody>
          <a:bodyPr anchor="t"/>
          <a:lstStyle>
            <a:lvl1pPr>
              <a:buNone/>
              <a:defRPr sz="2000">
                <a:solidFill>
                  <a:schemeClr val="accent3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2"/>
          </p:nvPr>
        </p:nvSpPr>
        <p:spPr>
          <a:xfrm>
            <a:off x="547099" y="1047750"/>
            <a:ext cx="3948701" cy="2895600"/>
          </a:xfrm>
        </p:spPr>
        <p:txBody>
          <a:bodyPr/>
          <a:lstStyle>
            <a:lvl1pPr>
              <a:buClr>
                <a:schemeClr val="accent3"/>
              </a:buClr>
              <a:defRPr sz="1400" b="0">
                <a:solidFill>
                  <a:schemeClr val="tx2"/>
                </a:solidFill>
                <a:latin typeface="+mn-lt"/>
              </a:defRPr>
            </a:lvl1pPr>
            <a:lvl2pPr>
              <a:buClr>
                <a:schemeClr val="accent3"/>
              </a:buClr>
              <a:defRPr sz="1400">
                <a:solidFill>
                  <a:schemeClr val="accent5"/>
                </a:solidFill>
                <a:latin typeface="+mn-lt"/>
              </a:defRPr>
            </a:lvl2pPr>
            <a:lvl3pPr>
              <a:buClr>
                <a:schemeClr val="accent3"/>
              </a:buClr>
              <a:defRPr sz="1400">
                <a:solidFill>
                  <a:schemeClr val="bg2">
                    <a:lumMod val="50000"/>
                  </a:schemeClr>
                </a:solidFill>
                <a:latin typeface="+mn-lt"/>
              </a:defRPr>
            </a:lvl3pPr>
            <a:lvl4pPr>
              <a:buClr>
                <a:schemeClr val="accent3"/>
              </a:buCl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4pPr>
            <a:lvl5pPr>
              <a:buClr>
                <a:schemeClr val="accent3"/>
              </a:buCl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4648200" y="1047750"/>
            <a:ext cx="4038600" cy="2895600"/>
          </a:xfrm>
        </p:spPr>
        <p:txBody>
          <a:bodyPr/>
          <a:lstStyle>
            <a:lvl1pPr>
              <a:defRPr sz="1400" b="0" baseline="0">
                <a:solidFill>
                  <a:schemeClr val="tx1"/>
                </a:solidFill>
                <a:latin typeface=""/>
              </a:defRPr>
            </a:lvl1pPr>
            <a:lvl2pPr>
              <a:defRPr sz="1400" b="0" baseline="0">
                <a:solidFill>
                  <a:schemeClr val="accent5"/>
                </a:solidFill>
                <a:latin typeface=""/>
              </a:defRPr>
            </a:lvl2pPr>
            <a:lvl3pPr>
              <a:defRPr sz="14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3pPr>
            <a:lvl4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4pPr>
            <a:lvl5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547099" y="1047750"/>
            <a:ext cx="4040188" cy="453390"/>
          </a:xfrm>
        </p:spPr>
        <p:txBody>
          <a:bodyPr anchor="b">
            <a:noAutofit/>
          </a:bodyPr>
          <a:lstStyle>
            <a:lvl1pPr>
              <a:buNone/>
              <a:defRPr sz="2000" b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8" y="1047750"/>
            <a:ext cx="4041775" cy="453390"/>
          </a:xfrm>
        </p:spPr>
        <p:txBody>
          <a:bodyPr anchor="b">
            <a:noAutofit/>
          </a:bodyPr>
          <a:lstStyle>
            <a:lvl1pPr>
              <a:buNone/>
              <a:defRPr sz="2000" b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2"/>
          </p:nvPr>
        </p:nvSpPr>
        <p:spPr>
          <a:xfrm>
            <a:off x="547099" y="1581150"/>
            <a:ext cx="4038600" cy="2895600"/>
          </a:xfrm>
        </p:spPr>
        <p:txBody>
          <a:bodyPr/>
          <a:lstStyle>
            <a:lvl1pPr>
              <a:buClr>
                <a:schemeClr val="accent3"/>
              </a:buClr>
              <a:defRPr sz="1400" b="0">
                <a:solidFill>
                  <a:schemeClr val="tx2"/>
                </a:solidFill>
                <a:latin typeface="+mn-lt"/>
              </a:defRPr>
            </a:lvl1pPr>
            <a:lvl2pPr>
              <a:buClr>
                <a:schemeClr val="accent3"/>
              </a:buClr>
              <a:defRPr sz="1400">
                <a:solidFill>
                  <a:schemeClr val="accent5"/>
                </a:solidFill>
                <a:latin typeface="+mn-lt"/>
              </a:defRPr>
            </a:lvl2pPr>
            <a:lvl3pPr>
              <a:buClr>
                <a:schemeClr val="accent3"/>
              </a:buClr>
              <a:defRPr sz="1400">
                <a:solidFill>
                  <a:schemeClr val="bg2">
                    <a:lumMod val="50000"/>
                  </a:schemeClr>
                </a:solidFill>
                <a:latin typeface="+mn-lt"/>
              </a:defRPr>
            </a:lvl3pPr>
            <a:lvl4pPr>
              <a:buClr>
                <a:schemeClr val="accent3"/>
              </a:buCl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4pPr>
            <a:lvl5pPr>
              <a:buClr>
                <a:schemeClr val="accent3"/>
              </a:buCl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half" idx="13"/>
          </p:nvPr>
        </p:nvSpPr>
        <p:spPr>
          <a:xfrm>
            <a:off x="4648200" y="1581150"/>
            <a:ext cx="4038600" cy="2895600"/>
          </a:xfrm>
        </p:spPr>
        <p:txBody>
          <a:bodyPr/>
          <a:lstStyle>
            <a:lvl1pPr>
              <a:defRPr sz="1400" b="0" baseline="0">
                <a:solidFill>
                  <a:schemeClr val="tx1"/>
                </a:solidFill>
                <a:latin typeface=""/>
              </a:defRPr>
            </a:lvl1pPr>
            <a:lvl2pPr>
              <a:defRPr sz="1400" b="0" baseline="0">
                <a:solidFill>
                  <a:schemeClr val="accent5"/>
                </a:solidFill>
                <a:latin typeface=""/>
              </a:defRPr>
            </a:lvl2pPr>
            <a:lvl3pPr>
              <a:defRPr sz="14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3pPr>
            <a:lvl4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4pPr>
            <a:lvl5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5146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915826"/>
            <a:ext cx="5923598" cy="518638"/>
          </a:xfr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300"/>
              </a:spcBef>
              <a:buFont typeface="Arial" pitchFamily="34" charset="0"/>
              <a:buNone/>
              <a:defRPr sz="2400" baseline="0">
                <a:solidFill>
                  <a:schemeClr val="tx1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  <a:solidFill>
            <a:schemeClr val="accent5"/>
          </a:solidFill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3350"/>
            <a:ext cx="547688" cy="547688"/>
          </a:xfrm>
          <a:solidFill>
            <a:schemeClr val="accent3"/>
          </a:solidFill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2743200" y="1581150"/>
            <a:ext cx="5943600" cy="2971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um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209550"/>
            <a:ext cx="6172200" cy="549088"/>
          </a:xfrm>
        </p:spPr>
        <p:txBody>
          <a:bodyPr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um Spac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38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501" y="285750"/>
            <a:ext cx="5923598" cy="518638"/>
          </a:xfr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300"/>
              </a:spcBef>
              <a:buFont typeface="Arial" pitchFamily="34" charset="0"/>
              <a:buNone/>
              <a:defRPr sz="2400" baseline="0">
                <a:solidFill>
                  <a:schemeClr val="tx1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4095748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4095748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47099" y="4095748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2"/>
          </p:nvPr>
        </p:nvSpPr>
        <p:spPr>
          <a:xfrm>
            <a:off x="547098" y="971550"/>
            <a:ext cx="7149101" cy="2895600"/>
          </a:xfrm>
        </p:spPr>
        <p:txBody>
          <a:bodyPr/>
          <a:lstStyle>
            <a:lvl1pPr>
              <a:buClr>
                <a:schemeClr val="accent3"/>
              </a:buClr>
              <a:defRPr sz="1400" b="0">
                <a:solidFill>
                  <a:schemeClr val="tx2"/>
                </a:solidFill>
                <a:latin typeface="+mn-lt"/>
              </a:defRPr>
            </a:lvl1pPr>
            <a:lvl2pPr>
              <a:buClr>
                <a:schemeClr val="accent3"/>
              </a:buClr>
              <a:defRPr sz="1400">
                <a:solidFill>
                  <a:schemeClr val="accent5"/>
                </a:solidFill>
                <a:latin typeface="+mn-lt"/>
              </a:defRPr>
            </a:lvl2pPr>
            <a:lvl3pPr>
              <a:buClr>
                <a:schemeClr val="accent3"/>
              </a:buClr>
              <a:defRPr sz="1400">
                <a:solidFill>
                  <a:schemeClr val="bg2">
                    <a:lumMod val="50000"/>
                  </a:schemeClr>
                </a:solidFill>
                <a:latin typeface="+mn-lt"/>
              </a:defRPr>
            </a:lvl3pPr>
            <a:lvl4pPr>
              <a:buClr>
                <a:schemeClr val="accent3"/>
              </a:buCl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4pPr>
            <a:lvl5pPr>
              <a:buClr>
                <a:schemeClr val="accent3"/>
              </a:buCl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7300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gradFill flip="none" rotWithShape="1">
          <a:gsLst>
            <a:gs pos="100000">
              <a:schemeClr val="accent1"/>
            </a:gs>
            <a:gs pos="0">
              <a:schemeClr val="bg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010400" y="4095749"/>
            <a:ext cx="2133600" cy="5470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47099" y="590550"/>
            <a:ext cx="7261494" cy="2986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4095748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0" y="4095748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7099" y="4095748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7991475" y="2114549"/>
            <a:ext cx="731520" cy="731520"/>
          </a:xfrm>
          <a:prstGeom prst="rect">
            <a:avLst/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9" name="Rectangle 38"/>
          <p:cNvSpPr/>
          <p:nvPr userDrawn="1"/>
        </p:nvSpPr>
        <p:spPr>
          <a:xfrm>
            <a:off x="7808593" y="2495550"/>
            <a:ext cx="548641" cy="548641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0" name="Rectangle 39"/>
          <p:cNvSpPr/>
          <p:nvPr userDrawn="1"/>
        </p:nvSpPr>
        <p:spPr>
          <a:xfrm>
            <a:off x="8189595" y="2343150"/>
            <a:ext cx="954406" cy="1371601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1" name="Rectangle 40"/>
          <p:cNvSpPr/>
          <p:nvPr userDrawn="1"/>
        </p:nvSpPr>
        <p:spPr>
          <a:xfrm>
            <a:off x="8722995" y="1276350"/>
            <a:ext cx="421005" cy="533400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7401875" y="1682114"/>
            <a:ext cx="406718" cy="406718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3" name="Rectangle 42"/>
          <p:cNvSpPr/>
          <p:nvPr userDrawn="1"/>
        </p:nvSpPr>
        <p:spPr>
          <a:xfrm>
            <a:off x="6534150" y="3848098"/>
            <a:ext cx="406718" cy="406718"/>
          </a:xfrm>
          <a:prstGeom prst="rect">
            <a:avLst/>
          </a:prstGeom>
          <a:solidFill>
            <a:schemeClr val="accent5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7667447" y="3638071"/>
            <a:ext cx="616745" cy="616745"/>
          </a:xfrm>
          <a:prstGeom prst="rect">
            <a:avLst/>
          </a:prstGeom>
          <a:solidFill>
            <a:schemeClr val="accent5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Rectangle 44"/>
          <p:cNvSpPr/>
          <p:nvPr userDrawn="1"/>
        </p:nvSpPr>
        <p:spPr>
          <a:xfrm>
            <a:off x="7177326" y="3576877"/>
            <a:ext cx="275748" cy="275748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6" name="Rectangle 45"/>
          <p:cNvSpPr/>
          <p:nvPr userDrawn="1"/>
        </p:nvSpPr>
        <p:spPr>
          <a:xfrm>
            <a:off x="8582977" y="4171950"/>
            <a:ext cx="406718" cy="406718"/>
          </a:xfrm>
          <a:prstGeom prst="rect">
            <a:avLst/>
          </a:prstGeom>
          <a:solidFill>
            <a:schemeClr val="accent5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544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2"/>
          </p:nvPr>
        </p:nvSpPr>
        <p:spPr>
          <a:xfrm>
            <a:off x="547098" y="971550"/>
            <a:ext cx="2577102" cy="3276600"/>
          </a:xfrm>
        </p:spPr>
        <p:txBody>
          <a:bodyPr lIns="45720" tIns="45720" rIns="0">
            <a:normAutofit/>
          </a:bodyPr>
          <a:lstStyle>
            <a:lvl1pPr marL="0" indent="0">
              <a:spcBef>
                <a:spcPts val="30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3429000" y="971550"/>
            <a:ext cx="5029200" cy="3276600"/>
          </a:xfrm>
        </p:spPr>
        <p:txBody>
          <a:bodyPr/>
          <a:lstStyle>
            <a:lvl1pPr>
              <a:defRPr sz="1600" b="0" baseline="0">
                <a:solidFill>
                  <a:schemeClr val="tx1"/>
                </a:solidFill>
                <a:latin typeface=""/>
              </a:defRPr>
            </a:lvl1pPr>
            <a:lvl2pPr>
              <a:defRPr sz="1400" b="0" baseline="0">
                <a:solidFill>
                  <a:schemeClr val="accent5"/>
                </a:solidFill>
                <a:latin typeface=""/>
              </a:defRPr>
            </a:lvl2pPr>
            <a:lvl3pPr>
              <a:defRPr sz="14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3pPr>
            <a:lvl4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4pPr>
            <a:lvl5pPr>
              <a:defRPr sz="1200" b="0" baseline="0">
                <a:solidFill>
                  <a:schemeClr val="bg2">
                    <a:lumMod val="50000"/>
                  </a:schemeClr>
                </a:solidFill>
                <a:latin typeface="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76240" y="1485900"/>
            <a:ext cx="3429000" cy="391716"/>
          </a:xfrm>
        </p:spPr>
        <p:txBody>
          <a:bodyPr tIns="0" bIns="0" anchor="b">
            <a:normAutofit/>
          </a:bodyPr>
          <a:lstStyle>
            <a:lvl1pPr algn="r">
              <a:buNone/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4419600" y="1123950"/>
            <a:ext cx="4267200" cy="3276600"/>
          </a:xfrm>
          <a:noFill/>
          <a:ln w="60325">
            <a:noFill/>
            <a:miter lim="800000"/>
          </a:ln>
          <a:effectLst/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962150"/>
            <a:ext cx="3429000" cy="685800"/>
          </a:xfrm>
        </p:spPr>
        <p:txBody>
          <a:bodyPr lIns="0" tIns="0" rIns="0" bIns="0" anchor="t"/>
          <a:lstStyle>
            <a:lvl1pPr indent="0" algn="r">
              <a:spcBef>
                <a:spcPts val="300"/>
              </a:spcBef>
              <a:buFontTx/>
              <a:buNone/>
              <a:defRPr sz="1400" baseline="0">
                <a:solidFill>
                  <a:schemeClr val="accent3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71550"/>
            <a:ext cx="8229600" cy="3657600"/>
          </a:xfrm>
        </p:spPr>
        <p:txBody>
          <a:bodyPr vert="eaVert"/>
          <a:lstStyle>
            <a:lvl1pPr>
              <a:defRPr sz="1600" b="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5"/>
                </a:solidFill>
                <a:latin typeface="+mn-lt"/>
              </a:defRPr>
            </a:lvl2pPr>
            <a:lvl3pPr>
              <a:defRPr sz="1400">
                <a:solidFill>
                  <a:schemeClr val="bg2">
                    <a:lumMod val="5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3553"/>
            <a:ext cx="1066800" cy="4425597"/>
          </a:xfrm>
        </p:spPr>
        <p:txBody>
          <a:bodyPr vert="eaVer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9550"/>
            <a:ext cx="6019800" cy="4419600"/>
          </a:xfrm>
        </p:spPr>
        <p:txBody>
          <a:bodyPr vert="eaVert"/>
          <a:lstStyle>
            <a:lvl1pPr>
              <a:defRPr sz="1600" b="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5"/>
                </a:solidFill>
                <a:latin typeface="+mn-lt"/>
              </a:defRPr>
            </a:lvl2pPr>
            <a:lvl3pPr>
              <a:defRPr sz="1400">
                <a:solidFill>
                  <a:schemeClr val="bg2">
                    <a:lumMod val="5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bg2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647950"/>
            <a:ext cx="7086600" cy="8001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53440" y="2647950"/>
            <a:ext cx="6233159" cy="800100"/>
          </a:xfrm>
        </p:spPr>
        <p:txBody>
          <a:bodyPr lIns="137160" rIns="137160" anchor="ctr">
            <a:noAutofit/>
          </a:bodyPr>
          <a:lstStyle>
            <a:lvl1pPr algn="l">
              <a:buNone/>
              <a:defRPr sz="24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53440" y="3562350"/>
            <a:ext cx="7909560" cy="762000"/>
          </a:xfrm>
          <a:prstGeom prst="rect">
            <a:avLst/>
          </a:prstGeom>
        </p:spPr>
        <p:txBody>
          <a:bodyPr anchor="t"/>
          <a:lstStyle>
            <a:lvl1pPr>
              <a:buNone/>
              <a:defRPr sz="2000">
                <a:solidFill>
                  <a:schemeClr val="accent3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2647950"/>
            <a:ext cx="853440" cy="80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7086600" y="2647950"/>
            <a:ext cx="2057400" cy="8001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14350" y="4833862"/>
            <a:ext cx="457200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700" dirty="0" smtClean="0">
                <a:solidFill>
                  <a:schemeClr val="tx1"/>
                </a:solidFill>
              </a:rPr>
              <a:t>© 2012 DealerTrack, Inc. All rights reserved.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991475" y="2114549"/>
            <a:ext cx="731520" cy="731520"/>
          </a:xfrm>
          <a:prstGeom prst="rect">
            <a:avLst/>
          </a:prstGeom>
          <a:solidFill>
            <a:schemeClr val="accent5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7808593" y="2495550"/>
            <a:ext cx="548641" cy="548641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8189595" y="2343150"/>
            <a:ext cx="954406" cy="1371601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8722995" y="1276350"/>
            <a:ext cx="421005" cy="533400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7401875" y="1682114"/>
            <a:ext cx="406718" cy="406718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6534150" y="3848098"/>
            <a:ext cx="406718" cy="406718"/>
          </a:xfrm>
          <a:prstGeom prst="rect">
            <a:avLst/>
          </a:prstGeom>
          <a:solidFill>
            <a:schemeClr val="accent5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7667447" y="3638071"/>
            <a:ext cx="616745" cy="616745"/>
          </a:xfrm>
          <a:prstGeom prst="rect">
            <a:avLst/>
          </a:prstGeom>
          <a:solidFill>
            <a:schemeClr val="accent5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7177326" y="3576877"/>
            <a:ext cx="275748" cy="275748"/>
          </a:xfrm>
          <a:prstGeom prst="rect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8582977" y="4171950"/>
            <a:ext cx="406718" cy="406718"/>
          </a:xfrm>
          <a:prstGeom prst="rect">
            <a:avLst/>
          </a:prstGeom>
          <a:solidFill>
            <a:schemeClr val="accent5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206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sz="half" idx="14"/>
          </p:nvPr>
        </p:nvSpPr>
        <p:spPr>
          <a:xfrm>
            <a:off x="547098" y="895350"/>
            <a:ext cx="7149101" cy="3581400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accent3"/>
              </a:buClr>
              <a:buFont typeface="Arial" pitchFamily="34" charset="0"/>
              <a:buChar char="■"/>
              <a:defRPr sz="1600" b="0">
                <a:solidFill>
                  <a:schemeClr val="tx2"/>
                </a:solidFill>
              </a:defRPr>
            </a:lvl1pPr>
            <a:lvl2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3pPr>
            <a:lvl4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1697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22376" y="1200150"/>
            <a:ext cx="7772400" cy="964692"/>
          </a:xfrm>
        </p:spPr>
        <p:txBody>
          <a:bodyPr>
            <a:noAutofit/>
          </a:bodyPr>
          <a:lstStyle>
            <a:lvl1pPr algn="l">
              <a:buNone/>
              <a:defRPr sz="32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64558"/>
            <a:ext cx="7772400" cy="1132284"/>
          </a:xfrm>
          <a:prstGeom prst="rect">
            <a:avLst/>
          </a:prstGeom>
        </p:spPr>
        <p:txBody>
          <a:bodyPr anchor="t"/>
          <a:lstStyle>
            <a:lvl1pPr>
              <a:buNone/>
              <a:defRPr sz="2000">
                <a:solidFill>
                  <a:schemeClr val="accent3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1977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4648200" y="971550"/>
            <a:ext cx="4038600" cy="2895600"/>
          </a:xfrm>
          <a:prstGeom prst="rect">
            <a:avLst/>
          </a:prstGeom>
        </p:spPr>
        <p:txBody>
          <a:bodyPr/>
          <a:lstStyle>
            <a:lvl1pPr marL="320040" indent="-320040">
              <a:buFont typeface="Arial" pitchFamily="34" charset="0"/>
              <a:buChar char="■"/>
              <a:defRPr sz="1400" b="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533400" y="971550"/>
            <a:ext cx="4038600" cy="2895600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accent3"/>
              </a:buClr>
              <a:buFont typeface="Arial" pitchFamily="34" charset="0"/>
              <a:buChar char="■"/>
              <a:defRPr sz="1600" b="0">
                <a:solidFill>
                  <a:schemeClr val="tx2"/>
                </a:solidFill>
              </a:defRPr>
            </a:lvl1pPr>
            <a:lvl2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3pPr>
            <a:lvl4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805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528049" y="971550"/>
            <a:ext cx="4040188" cy="45339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buNone/>
              <a:defRPr sz="2000" b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8" y="971550"/>
            <a:ext cx="4041775" cy="45339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buNone/>
              <a:defRPr sz="2000" b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13"/>
          </p:nvPr>
        </p:nvSpPr>
        <p:spPr>
          <a:xfrm>
            <a:off x="4648200" y="1581150"/>
            <a:ext cx="4038600" cy="2895600"/>
          </a:xfrm>
          <a:prstGeom prst="rect">
            <a:avLst/>
          </a:prstGeom>
        </p:spPr>
        <p:txBody>
          <a:bodyPr/>
          <a:lstStyle>
            <a:lvl1pPr marL="320040" indent="-320040">
              <a:buFont typeface="Arial" pitchFamily="34" charset="0"/>
              <a:buChar char="■"/>
              <a:defRPr sz="1400" b="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533400" y="1581150"/>
            <a:ext cx="4038600" cy="2895600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accent3"/>
              </a:buClr>
              <a:buFont typeface="Arial" pitchFamily="34" charset="0"/>
              <a:buChar char="■"/>
              <a:defRPr sz="1600" b="0">
                <a:solidFill>
                  <a:schemeClr val="tx2"/>
                </a:solidFill>
              </a:defRPr>
            </a:lvl1pPr>
            <a:lvl2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3pPr>
            <a:lvl4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169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915826"/>
            <a:ext cx="5923598" cy="5186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300"/>
              </a:spcBef>
              <a:buFont typeface="Arial" pitchFamily="34" charset="0"/>
              <a:buNone/>
              <a:defRPr sz="2400" baseline="0">
                <a:solidFill>
                  <a:schemeClr val="tx1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5146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  <a:solidFill>
            <a:schemeClr val="tx2">
              <a:lumMod val="10000"/>
            </a:schemeClr>
          </a:solidFill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3350"/>
            <a:ext cx="547688" cy="547688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2743200" y="1581150"/>
            <a:ext cx="5943600" cy="2895600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accent3"/>
              </a:buClr>
              <a:buFont typeface="Arial" pitchFamily="34" charset="0"/>
              <a:buChar char="■"/>
              <a:defRPr sz="1600" b="0">
                <a:solidFill>
                  <a:schemeClr val="tx2"/>
                </a:solidFill>
              </a:defRPr>
            </a:lvl1pPr>
            <a:lvl2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3pPr>
            <a:lvl4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09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um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2400" y="133350"/>
            <a:ext cx="62347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731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um Spac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58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4095750"/>
            <a:ext cx="70866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40957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 8"/>
          <p:cNvSpPr>
            <a:spLocks noGrp="1"/>
          </p:cNvSpPr>
          <p:nvPr>
            <p:ph type="title"/>
          </p:nvPr>
        </p:nvSpPr>
        <p:spPr>
          <a:xfrm>
            <a:off x="547099" y="4095748"/>
            <a:ext cx="6539501" cy="547099"/>
          </a:xfrm>
          <a:prstGeom prst="rect">
            <a:avLst/>
          </a:prstGeom>
          <a:noFill/>
        </p:spPr>
        <p:txBody>
          <a:bodyPr vert="horz" lIns="91440" tIns="9144" rIns="91440" bIns="9144" anchor="ctr">
            <a:normAutofit/>
          </a:bodyPr>
          <a:lstStyle>
            <a:lvl1pPr>
              <a:defRPr sz="1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501" y="285750"/>
            <a:ext cx="5923598" cy="5186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300"/>
              </a:spcBef>
              <a:buFont typeface="Arial" pitchFamily="34" charset="0"/>
              <a:buNone/>
              <a:defRPr sz="2400" baseline="0">
                <a:solidFill>
                  <a:schemeClr val="tx1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4"/>
          </p:nvPr>
        </p:nvSpPr>
        <p:spPr>
          <a:xfrm>
            <a:off x="547098" y="971550"/>
            <a:ext cx="6996701" cy="2895600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accent3"/>
              </a:buClr>
              <a:buFont typeface="Arial" pitchFamily="34" charset="0"/>
              <a:buChar char="■"/>
              <a:defRPr sz="1600" b="0">
                <a:solidFill>
                  <a:schemeClr val="tx2"/>
                </a:solidFill>
              </a:defRPr>
            </a:lvl1pPr>
            <a:lvl2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3pPr>
            <a:lvl4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4095750"/>
            <a:ext cx="70866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40957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47099" y="590550"/>
            <a:ext cx="7072901" cy="304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47099" y="4095749"/>
            <a:ext cx="6539501" cy="547099"/>
          </a:xfrm>
        </p:spPr>
        <p:txBody>
          <a:bodyPr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07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2"/>
          </p:nvPr>
        </p:nvSpPr>
        <p:spPr>
          <a:xfrm>
            <a:off x="547098" y="971550"/>
            <a:ext cx="2653302" cy="3276600"/>
          </a:xfrm>
          <a:prstGeom prst="rect">
            <a:avLst/>
          </a:prstGeom>
        </p:spPr>
        <p:txBody>
          <a:bodyPr lIns="45720" tIns="45720" rIns="0">
            <a:normAutofit/>
          </a:bodyPr>
          <a:lstStyle>
            <a:lvl1pPr marL="0" indent="0">
              <a:spcBef>
                <a:spcPts val="30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2"/>
          </p:nvPr>
        </p:nvSpPr>
        <p:spPr>
          <a:xfrm>
            <a:off x="3352801" y="971550"/>
            <a:ext cx="4953000" cy="3276600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accent3"/>
              </a:buClr>
              <a:buFont typeface="Arial" pitchFamily="34" charset="0"/>
              <a:buChar char="■"/>
              <a:defRPr sz="1600" b="0">
                <a:solidFill>
                  <a:schemeClr val="tx2"/>
                </a:solidFill>
              </a:defRPr>
            </a:lvl1pPr>
            <a:lvl2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2pPr>
            <a:lvl3pPr>
              <a:buClr>
                <a:schemeClr val="accent3"/>
              </a:buClr>
              <a:defRPr sz="1400">
                <a:solidFill>
                  <a:schemeClr val="tx2"/>
                </a:solidFill>
              </a:defRPr>
            </a:lvl3pPr>
            <a:lvl4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4pPr>
            <a:lvl5pPr>
              <a:buClr>
                <a:schemeClr val="accent3"/>
              </a:buCl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8520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76240" y="1485900"/>
            <a:ext cx="3429000" cy="391716"/>
          </a:xfrm>
        </p:spPr>
        <p:txBody>
          <a:bodyPr tIns="0" bIns="0" anchor="b">
            <a:normAutofit/>
          </a:bodyPr>
          <a:lstStyle>
            <a:lvl1pPr algn="r">
              <a:buNone/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4419600" y="1123950"/>
            <a:ext cx="4267200" cy="3276600"/>
          </a:xfrm>
          <a:prstGeom prst="rect">
            <a:avLst/>
          </a:prstGeom>
          <a:noFill/>
          <a:ln w="60325">
            <a:noFill/>
            <a:miter lim="800000"/>
          </a:ln>
          <a:effectLst/>
        </p:spPr>
        <p:txBody>
          <a:bodyPr>
            <a:normAutofit/>
          </a:bodyPr>
          <a:lstStyle>
            <a:lvl1pPr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962150"/>
            <a:ext cx="3429000" cy="685800"/>
          </a:xfrm>
          <a:prstGeom prst="rect">
            <a:avLst/>
          </a:prstGeom>
        </p:spPr>
        <p:txBody>
          <a:bodyPr lIns="0" tIns="0" rIns="0" bIns="0" anchor="t"/>
          <a:lstStyle>
            <a:lvl1pPr indent="0" algn="r">
              <a:spcBef>
                <a:spcPts val="300"/>
              </a:spcBef>
              <a:buFontTx/>
              <a:buNone/>
              <a:defRPr sz="1400" baseline="0">
                <a:solidFill>
                  <a:schemeClr val="accent3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18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133350"/>
            <a:ext cx="7010400" cy="547099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47099" y="133350"/>
            <a:ext cx="6463301" cy="547099"/>
          </a:xfrm>
        </p:spPr>
        <p:txBody>
          <a:bodyPr wrap="none" lIns="91440" rIns="91440" anchor="ctr">
            <a:noAutofit/>
          </a:bodyPr>
          <a:lstStyle>
            <a:lvl1pPr algn="l">
              <a:buNone/>
              <a:defRPr sz="1800" b="0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33350"/>
            <a:ext cx="547099" cy="5470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71550"/>
            <a:ext cx="8229600" cy="3657600"/>
          </a:xfrm>
        </p:spPr>
        <p:txBody>
          <a:bodyPr vert="eaVert"/>
          <a:lstStyle>
            <a:lvl1pPr marL="320040" indent="-320040">
              <a:buFont typeface="Arial" pitchFamily="34" charset="0"/>
              <a:buChar char="■"/>
              <a:defRPr sz="1600" b="0">
                <a:solidFill>
                  <a:srgbClr val="FFFFFF"/>
                </a:solidFill>
              </a:defRPr>
            </a:lvl1pPr>
            <a:lvl2pPr>
              <a:defRPr sz="1400">
                <a:solidFill>
                  <a:srgbClr val="FFFFFF"/>
                </a:solidFill>
                <a:latin typeface="+mn-lt"/>
              </a:defRPr>
            </a:lvl2pPr>
            <a:lvl3pPr>
              <a:defRPr sz="1400">
                <a:solidFill>
                  <a:srgbClr val="FFFFFF"/>
                </a:solidFill>
                <a:latin typeface="+mn-lt"/>
              </a:defRPr>
            </a:lvl3pPr>
            <a:lvl4pPr>
              <a:defRPr sz="1200">
                <a:solidFill>
                  <a:srgbClr val="FFFFFF"/>
                </a:solidFill>
                <a:latin typeface="+mn-lt"/>
              </a:defRPr>
            </a:lvl4pPr>
            <a:lvl5pPr>
              <a:defRPr sz="12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422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800"/>
            </a:lvl1pPr>
          </a:lstStyle>
          <a:p>
            <a:fld id="{86F31552-9344-4CED-8961-87F0A479EF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3553"/>
            <a:ext cx="1066800" cy="4425597"/>
          </a:xfrm>
        </p:spPr>
        <p:txBody>
          <a:bodyPr vert="eaVer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9550"/>
            <a:ext cx="6019800" cy="4419600"/>
          </a:xfrm>
        </p:spPr>
        <p:txBody>
          <a:bodyPr vert="eaVert"/>
          <a:lstStyle>
            <a:lvl1pPr marL="320040" indent="-320040">
              <a:buFont typeface="Arial" pitchFamily="34" charset="0"/>
              <a:buChar char="■"/>
              <a:defRPr sz="1600" b="0">
                <a:solidFill>
                  <a:srgbClr val="FFFFFF"/>
                </a:solidFill>
              </a:defRPr>
            </a:lvl1pPr>
            <a:lvl2pPr>
              <a:defRPr sz="1400">
                <a:solidFill>
                  <a:srgbClr val="FFFFFF"/>
                </a:solidFill>
                <a:latin typeface="+mn-lt"/>
              </a:defRPr>
            </a:lvl2pPr>
            <a:lvl3pPr>
              <a:defRPr sz="1400">
                <a:solidFill>
                  <a:srgbClr val="FFFFFF"/>
                </a:solidFill>
                <a:latin typeface="+mn-lt"/>
              </a:defRPr>
            </a:lvl3pPr>
            <a:lvl4pPr>
              <a:defRPr sz="1200">
                <a:solidFill>
                  <a:srgbClr val="FFFFFF"/>
                </a:solidFill>
                <a:latin typeface="+mn-lt"/>
              </a:defRPr>
            </a:lvl4pPr>
            <a:lvl5pPr>
              <a:defRPr sz="1200">
                <a:solidFill>
                  <a:srgbClr val="FFFFFF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42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971550"/>
            <a:ext cx="8229600" cy="533400"/>
          </a:xfrm>
          <a:prstGeom prst="rect">
            <a:avLst/>
          </a:prstGeom>
        </p:spPr>
        <p:txBody>
          <a:bodyPr vert="horz" lIns="0" tIns="9144" rIns="0" bIns="9144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57350"/>
            <a:ext cx="8229600" cy="2994422"/>
          </a:xfrm>
          <a:prstGeom prst="rect">
            <a:avLst/>
          </a:prstGeom>
        </p:spPr>
        <p:txBody>
          <a:bodyPr vert="horz" lIns="9144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4"/>
          </p:nvPr>
        </p:nvSpPr>
        <p:spPr>
          <a:xfrm>
            <a:off x="0" y="4705350"/>
            <a:ext cx="457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23A43B2-A396-4634-ABDF-4D704989D8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48" y="-4302"/>
            <a:ext cx="706152" cy="7472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829099"/>
            <a:ext cx="2280500" cy="1906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5" r:id="rId7"/>
    <p:sldLayoutId id="2147483842" r:id="rId8"/>
    <p:sldLayoutId id="2147483840" r:id="rId9"/>
    <p:sldLayoutId id="2147483828" r:id="rId10"/>
    <p:sldLayoutId id="2147483796" r:id="rId11"/>
    <p:sldLayoutId id="2147483797" r:id="rId12"/>
    <p:sldLayoutId id="2147483798" r:id="rId13"/>
    <p:sldLayoutId id="2147483799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sz="2800" b="0" kern="1200">
          <a:ln w="500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30936" indent="-27432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□"/>
        <a:defRPr lang="en-US" sz="1400" kern="1200" dirty="0" smtClean="0">
          <a:solidFill>
            <a:schemeClr val="accent5"/>
          </a:solidFill>
          <a:latin typeface="+mn-lt"/>
          <a:ea typeface="+mn-ea"/>
          <a:cs typeface="+mn-cs"/>
        </a:defRPr>
      </a:lvl2pPr>
      <a:lvl3pPr marL="934974" indent="-28575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▪"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245870" indent="-28575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▫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426464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·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chemeClr val="accent5"/>
            </a:gs>
            <a:gs pos="90000">
              <a:schemeClr val="accent6"/>
            </a:gs>
          </a:gsLst>
          <a:path path="circle">
            <a:fillToRect r="210000" b="3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971550"/>
            <a:ext cx="8229600" cy="533400"/>
          </a:xfrm>
          <a:prstGeom prst="rect">
            <a:avLst/>
          </a:prstGeom>
        </p:spPr>
        <p:txBody>
          <a:bodyPr vert="horz" lIns="0" tIns="9144" rIns="0" bIns="9144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4"/>
          </p:nvPr>
        </p:nvSpPr>
        <p:spPr>
          <a:xfrm>
            <a:off x="0" y="4705350"/>
            <a:ext cx="457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23A43B2-A396-4634-ABDF-4D704989D8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48" y="-4302"/>
            <a:ext cx="706152" cy="7472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821555"/>
            <a:ext cx="2286000" cy="188595"/>
          </a:xfrm>
          <a:prstGeom prst="rect">
            <a:avLst/>
          </a:prstGeom>
        </p:spPr>
      </p:pic>
      <p:sp>
        <p:nvSpPr>
          <p:cNvPr id="19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57350"/>
            <a:ext cx="8229600" cy="2994422"/>
          </a:xfrm>
          <a:prstGeom prst="rect">
            <a:avLst/>
          </a:prstGeom>
        </p:spPr>
        <p:txBody>
          <a:bodyPr vert="horz" lIns="9144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506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41" r:id="rId8"/>
    <p:sldLayoutId id="2147483839" r:id="rId9"/>
    <p:sldLayoutId id="2147483826" r:id="rId10"/>
    <p:sldLayoutId id="2147483822" r:id="rId11"/>
    <p:sldLayoutId id="2147483823" r:id="rId12"/>
    <p:sldLayoutId id="2147483824" r:id="rId13"/>
    <p:sldLayoutId id="2147483825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sz="2800" b="0" kern="1200">
          <a:ln w="500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30936" indent="-27432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23544" indent="-27432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·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Arial" pitchFamily="34" charset="0"/>
        <a:buChar char="·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nfluence.atlassian.com/display/ENTERPRISE/Disaster+Recovery+Guide+for+JIR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licensing/data-cente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JIRA DATA CENTER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34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0" y="1200150"/>
            <a:ext cx="7391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High </a:t>
            </a:r>
            <a:r>
              <a:rPr lang="en-US" b="1" dirty="0"/>
              <a:t>availability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JIRA Data Center achieves High Availability via a multi-node cluster where-by all nodes are </a:t>
            </a:r>
            <a:r>
              <a:rPr lang="en-US" sz="1600" dirty="0" smtClean="0"/>
              <a:t>active.</a:t>
            </a:r>
          </a:p>
          <a:p>
            <a:pPr lvl="0"/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685800" y="2334220"/>
            <a:ext cx="7239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Performance at scale</a:t>
            </a:r>
            <a:r>
              <a:rPr lang="en-US" dirty="0"/>
              <a:t> </a:t>
            </a:r>
            <a:endParaRPr lang="en-US" dirty="0" smtClean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sz="1600" dirty="0"/>
              <a:t>Each node added to your JIRA Data Center cluster increases concurrent user capacity and improves response time as user activity grows.</a:t>
            </a:r>
          </a:p>
        </p:txBody>
      </p:sp>
    </p:spTree>
    <p:extLst>
      <p:ext uri="{BB962C8B-B14F-4D97-AF65-F5344CB8AC3E}">
        <p14:creationId xmlns:p14="http://schemas.microsoft.com/office/powerpoint/2010/main" val="171125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DIAGRAMATIC REPRESENTATION</a:t>
            </a:r>
            <a:endParaRPr lang="en-US" dirty="0"/>
          </a:p>
        </p:txBody>
      </p:sp>
      <p:sp>
        <p:nvSpPr>
          <p:cNvPr id="59" name="Rounded Rectangle 58"/>
          <p:cNvSpPr/>
          <p:nvPr/>
        </p:nvSpPr>
        <p:spPr>
          <a:xfrm>
            <a:off x="5860756" y="756462"/>
            <a:ext cx="2590799" cy="2667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5860755" y="1102795"/>
            <a:ext cx="2590799" cy="2667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4" name="Picture 23" descr="https://confluence.atlassian.com/download/attachments/604274940/JBL%20Stages.png?version=3&amp;modificationDate=1407737735132&amp;api=v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36144"/>
            <a:ext cx="7162800" cy="31644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98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3613334663"/>
              </p:ext>
            </p:extLst>
          </p:nvPr>
        </p:nvGraphicFramePr>
        <p:xfrm>
          <a:off x="457200" y="1581150"/>
          <a:ext cx="8062912" cy="167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https://developer.atlassian.com/jiradev/files/27567201/Simplified+diagram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95350"/>
            <a:ext cx="6248400" cy="373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98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D1D5E2-A7F4-49A9-AB8E-FB78067B1A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8CD1D5E2-A7F4-49A9-AB8E-FB78067B1A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666750"/>
            <a:ext cx="7772400" cy="304800"/>
          </a:xfrm>
        </p:spPr>
        <p:txBody>
          <a:bodyPr/>
          <a:lstStyle/>
          <a:p>
            <a:r>
              <a:rPr lang="en-US" sz="1800" b="1" dirty="0" smtClean="0"/>
              <a:t>Load Balancer</a:t>
            </a:r>
            <a:endParaRPr lang="en-US" sz="1800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971550"/>
            <a:ext cx="6934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You can use any load balancer that supports session affinity.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504950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Application 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874282"/>
            <a:ext cx="7391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JIRA instance all talking to the same database but with its own index (the complete index is replicated on all nodes)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This enables instant failover in the event of an outage and index recover in case the index in a node becomes corrupted..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8800" y="3091028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Database 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550332" y="3465278"/>
            <a:ext cx="73744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JIRA Data Center supports the </a:t>
            </a:r>
            <a:r>
              <a:rPr lang="en-US" sz="1600" dirty="0" smtClean="0"/>
              <a:t>same databases</a:t>
            </a:r>
            <a:r>
              <a:rPr lang="en-US" sz="1600" dirty="0"/>
              <a:t> that are supported for JIRA </a:t>
            </a:r>
          </a:p>
        </p:txBody>
      </p:sp>
    </p:spTree>
    <p:extLst>
      <p:ext uri="{BB962C8B-B14F-4D97-AF65-F5344CB8AC3E}">
        <p14:creationId xmlns:p14="http://schemas.microsoft.com/office/powerpoint/2010/main" val="160836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666750"/>
            <a:ext cx="7772400" cy="304800"/>
          </a:xfrm>
        </p:spPr>
        <p:txBody>
          <a:bodyPr/>
          <a:lstStyle/>
          <a:p>
            <a:r>
              <a:rPr lang="en-US" sz="1800" b="1" dirty="0" smtClean="0"/>
              <a:t>Shared Storage</a:t>
            </a:r>
            <a:endParaRPr lang="en-US" sz="1800" b="1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722313" y="971550"/>
            <a:ext cx="7772400" cy="3505200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>
                <a:solidFill>
                  <a:schemeClr val="tx1"/>
                </a:solidFill>
              </a:rPr>
              <a:t>All the nodes should have read and write access on Shared file system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1900" dirty="0" smtClean="0">
                <a:solidFill>
                  <a:schemeClr val="tx1"/>
                </a:solidFill>
              </a:rPr>
              <a:t>There are </a:t>
            </a:r>
            <a:r>
              <a:rPr lang="en-US" sz="1900" dirty="0">
                <a:solidFill>
                  <a:schemeClr val="tx1"/>
                </a:solidFill>
              </a:rPr>
              <a:t>multiple ways to do this, but the simplest is to use an NFS share</a:t>
            </a:r>
          </a:p>
          <a:p>
            <a:r>
              <a:rPr lang="en-US" sz="1900" dirty="0" smtClean="0">
                <a:solidFill>
                  <a:schemeClr val="tx1"/>
                </a:solidFill>
              </a:rPr>
              <a:t> </a:t>
            </a:r>
            <a:r>
              <a:rPr lang="en-US" sz="1900" dirty="0">
                <a:solidFill>
                  <a:schemeClr val="tx1"/>
                </a:solidFill>
              </a:rPr>
              <a:t>which stores:</a:t>
            </a: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</a:rPr>
              <a:t>Export files</a:t>
            </a: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</a:rPr>
              <a:t>Import files</a:t>
            </a: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</a:rPr>
              <a:t>Plugins</a:t>
            </a: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</a:rPr>
              <a:t>Logos directory</a:t>
            </a: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</a:rPr>
              <a:t>Shared caches</a:t>
            </a: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tx1"/>
                </a:solidFill>
              </a:rPr>
              <a:t>Data directory which includes:</a:t>
            </a:r>
          </a:p>
          <a:p>
            <a:pPr marL="642366" lvl="1" indent="-285750">
              <a:buClrTx/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chemeClr val="tx1"/>
                </a:solidFill>
              </a:rPr>
              <a:t>Attachments</a:t>
            </a:r>
          </a:p>
          <a:p>
            <a:pPr marL="642366" lvl="1" indent="-285750">
              <a:buClrTx/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chemeClr val="tx1"/>
                </a:solidFill>
              </a:rPr>
              <a:t>Avatars</a:t>
            </a:r>
          </a:p>
          <a:p>
            <a:pPr marL="642366" lvl="1" indent="-285750">
              <a:buClrTx/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chemeClr val="tx1"/>
                </a:solidFill>
              </a:rPr>
              <a:t>Icons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27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JIRA DATA CENTER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971550"/>
            <a:ext cx="5068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Upgrade your JIRA instance to 6.3 or 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504950"/>
            <a:ext cx="6477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Set up the JIRA file storage location on shared </a:t>
            </a:r>
            <a:r>
              <a:rPr lang="en-US" b="1" dirty="0" smtClean="0"/>
              <a:t>storage</a:t>
            </a:r>
          </a:p>
          <a:p>
            <a:r>
              <a:rPr lang="en-US" sz="1600" dirty="0"/>
              <a:t> </a:t>
            </a:r>
            <a:r>
              <a:rPr lang="en-US" sz="1600" dirty="0" smtClean="0"/>
              <a:t>       EG : </a:t>
            </a:r>
            <a:r>
              <a:rPr lang="en-US" sz="1600" dirty="0"/>
              <a:t>/data/</a:t>
            </a:r>
            <a:r>
              <a:rPr lang="en-US" sz="1600" dirty="0" err="1"/>
              <a:t>jira</a:t>
            </a:r>
            <a:r>
              <a:rPr lang="en-US" sz="1600" dirty="0"/>
              <a:t>/</a:t>
            </a:r>
            <a:r>
              <a:rPr lang="en-US" sz="1600" dirty="0" err="1"/>
              <a:t>sharedhome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533400" y="2223016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Copy the following directories into /data/</a:t>
            </a:r>
            <a:r>
              <a:rPr lang="en-US" b="1" dirty="0" err="1"/>
              <a:t>jira</a:t>
            </a:r>
            <a:r>
              <a:rPr lang="en-US" b="1" dirty="0"/>
              <a:t>/</a:t>
            </a:r>
            <a:r>
              <a:rPr lang="en-US" b="1" dirty="0" err="1"/>
              <a:t>sharedhome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609600" y="2625183"/>
            <a:ext cx="464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i="1" dirty="0"/>
              <a:t> </a:t>
            </a:r>
            <a:r>
              <a:rPr lang="en-US" sz="1600" i="1" dirty="0" smtClean="0"/>
              <a:t>      </a:t>
            </a:r>
            <a:r>
              <a:rPr lang="en-US" sz="1600" i="1" dirty="0" err="1" smtClean="0"/>
              <a:t>Data</a:t>
            </a:r>
            <a:r>
              <a:rPr lang="en-US" sz="1600" dirty="0" err="1" smtClean="0"/>
              <a:t>,</a:t>
            </a:r>
            <a:r>
              <a:rPr lang="en-US" sz="1600" i="1" dirty="0" err="1" smtClean="0"/>
              <a:t>plugins</a:t>
            </a:r>
            <a:r>
              <a:rPr lang="en-US" sz="1600" dirty="0" err="1" smtClean="0"/>
              <a:t>,</a:t>
            </a:r>
            <a:r>
              <a:rPr lang="en-US" sz="1600" i="1" dirty="0" err="1" smtClean="0"/>
              <a:t>logos</a:t>
            </a:r>
            <a:r>
              <a:rPr lang="en-US" sz="1600" dirty="0" err="1" smtClean="0"/>
              <a:t>,</a:t>
            </a:r>
            <a:r>
              <a:rPr lang="en-US" sz="1600" i="1" dirty="0" err="1" smtClean="0"/>
              <a:t>import</a:t>
            </a:r>
            <a:r>
              <a:rPr lang="en-US" sz="1600" dirty="0" err="1" smtClean="0"/>
              <a:t>,</a:t>
            </a:r>
            <a:r>
              <a:rPr lang="en-US" sz="1600" i="1" dirty="0" err="1" smtClean="0"/>
              <a:t>export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50332" y="3105150"/>
            <a:ext cx="68410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Configure your existing JIRA instance to work in a </a:t>
            </a:r>
            <a:r>
              <a:rPr lang="en-US" b="1" dirty="0" smtClean="0"/>
              <a:t>cluster</a:t>
            </a:r>
          </a:p>
          <a:p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990600" y="3486150"/>
            <a:ext cx="64008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</a:t>
            </a:r>
            <a:r>
              <a:rPr lang="en-US" sz="1600" dirty="0" smtClean="0"/>
              <a:t>Put </a:t>
            </a:r>
            <a:r>
              <a:rPr lang="en-US" sz="1600" dirty="0"/>
              <a:t>a </a:t>
            </a:r>
            <a:r>
              <a:rPr lang="en-US" sz="1600" b="1" dirty="0" err="1"/>
              <a:t>cluster.properties</a:t>
            </a:r>
            <a:r>
              <a:rPr lang="en-US" sz="1600" dirty="0"/>
              <a:t> file in the local JIRA home </a:t>
            </a:r>
            <a:r>
              <a:rPr lang="en-US" sz="1600" dirty="0" smtClean="0"/>
              <a:t>                                                           directory</a:t>
            </a:r>
            <a:r>
              <a:rPr lang="en-US" sz="1600" dirty="0"/>
              <a:t>, with contents as follows:</a:t>
            </a:r>
          </a:p>
        </p:txBody>
      </p:sp>
    </p:spTree>
    <p:extLst>
      <p:ext uri="{BB962C8B-B14F-4D97-AF65-F5344CB8AC3E}">
        <p14:creationId xmlns:p14="http://schemas.microsoft.com/office/powerpoint/2010/main" val="376993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85800" y="590550"/>
            <a:ext cx="7010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</a:t>
            </a:r>
            <a:r>
              <a:rPr lang="en-US" sz="1600" dirty="0">
                <a:solidFill>
                  <a:schemeClr val="accent2"/>
                </a:solidFill>
              </a:rPr>
              <a:t># This ID must be unique across the </a:t>
            </a:r>
            <a:r>
              <a:rPr lang="en-US" sz="1600" dirty="0" smtClean="0">
                <a:solidFill>
                  <a:schemeClr val="accent2"/>
                </a:solidFill>
              </a:rPr>
              <a:t>cluster </a:t>
            </a:r>
          </a:p>
          <a:p>
            <a:r>
              <a:rPr lang="en-US" sz="1600" dirty="0" smtClean="0">
                <a:solidFill>
                  <a:schemeClr val="accent2"/>
                </a:solidFill>
              </a:rPr>
              <a:t>Jira.node.id= node1</a:t>
            </a:r>
            <a:endParaRPr lang="en-US" sz="1600" dirty="0">
              <a:solidFill>
                <a:schemeClr val="accent2"/>
              </a:solidFill>
            </a:endParaRPr>
          </a:p>
          <a:p>
            <a:r>
              <a:rPr lang="en-US" sz="1600" dirty="0">
                <a:solidFill>
                  <a:schemeClr val="accent2"/>
                </a:solidFill>
              </a:rPr>
              <a:t># The location of the shared home directory for all JIRA nodes</a:t>
            </a:r>
          </a:p>
          <a:p>
            <a:r>
              <a:rPr lang="en-US" sz="1600" dirty="0" err="1">
                <a:solidFill>
                  <a:schemeClr val="accent2"/>
                </a:solidFill>
              </a:rPr>
              <a:t>jira.shared.home</a:t>
            </a:r>
            <a:r>
              <a:rPr lang="en-US" sz="1600" dirty="0">
                <a:solidFill>
                  <a:schemeClr val="accent2"/>
                </a:solidFill>
              </a:rPr>
              <a:t> = /data/</a:t>
            </a:r>
            <a:r>
              <a:rPr lang="en-US" sz="1600" dirty="0" err="1">
                <a:solidFill>
                  <a:schemeClr val="accent2"/>
                </a:solidFill>
              </a:rPr>
              <a:t>jira</a:t>
            </a:r>
            <a:r>
              <a:rPr lang="en-US" sz="1600" dirty="0">
                <a:solidFill>
                  <a:schemeClr val="accent2"/>
                </a:solidFill>
              </a:rPr>
              <a:t>/</a:t>
            </a:r>
            <a:r>
              <a:rPr lang="en-US" sz="1600" dirty="0" err="1">
                <a:solidFill>
                  <a:schemeClr val="accent2"/>
                </a:solidFill>
              </a:rPr>
              <a:t>sharedhome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1956653"/>
            <a:ext cx="4846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 the first node to your load </a:t>
            </a:r>
            <a:r>
              <a:rPr lang="en-US" b="1" dirty="0" smtClean="0"/>
              <a:t>balancer</a:t>
            </a:r>
          </a:p>
          <a:p>
            <a:r>
              <a:rPr lang="en-US" b="1" dirty="0" smtClean="0"/>
              <a:t>	</a:t>
            </a:r>
            <a:r>
              <a:rPr lang="en-US" b="1" dirty="0" smtClean="0">
                <a:solidFill>
                  <a:srgbClr val="0066FF"/>
                </a:solidFill>
              </a:rPr>
              <a:t>TBD</a:t>
            </a:r>
            <a:endParaRPr lang="en-US" b="1" dirty="0">
              <a:solidFill>
                <a:srgbClr val="0066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2605101"/>
            <a:ext cx="4337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 a new JIRA node to the cluster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1066800" y="2974433"/>
            <a:ext cx="6629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Copy </a:t>
            </a:r>
            <a:r>
              <a:rPr lang="en-US" sz="1600" dirty="0"/>
              <a:t>installation and Home directory folders to new location </a:t>
            </a:r>
          </a:p>
          <a:p>
            <a:pPr lvl="0"/>
            <a:r>
              <a:rPr lang="en-US" sz="1600" dirty="0" smtClean="0"/>
              <a:t>Alter </a:t>
            </a:r>
            <a:r>
              <a:rPr lang="en-US" sz="1600" dirty="0"/>
              <a:t>the </a:t>
            </a:r>
            <a:r>
              <a:rPr lang="en-US" sz="1600" dirty="0" err="1"/>
              <a:t>cluster.properties</a:t>
            </a:r>
            <a:r>
              <a:rPr lang="en-US" sz="1600" dirty="0"/>
              <a:t> file to reference the new node id. All node ids must be unique among nodes.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266" y="3897763"/>
            <a:ext cx="5858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Connect this new node to the load </a:t>
            </a:r>
            <a:r>
              <a:rPr lang="en-US" b="1" dirty="0" smtClean="0"/>
              <a:t>balancer</a:t>
            </a:r>
          </a:p>
          <a:p>
            <a:r>
              <a:rPr lang="en-US" b="1" dirty="0" smtClean="0"/>
              <a:t>	 </a:t>
            </a:r>
            <a:r>
              <a:rPr lang="en-US" b="1" dirty="0">
                <a:solidFill>
                  <a:srgbClr val="0066FF"/>
                </a:solidFill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6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DISASTER RECOVERY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3400" y="1047750"/>
            <a:ext cx="58978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Can be achieved with JIRA </a:t>
            </a:r>
            <a:r>
              <a:rPr lang="en-US" dirty="0"/>
              <a:t>Data </a:t>
            </a:r>
            <a:r>
              <a:rPr lang="en-US" dirty="0" smtClean="0"/>
              <a:t>Center</a:t>
            </a:r>
            <a:r>
              <a:rPr lang="en-US" dirty="0"/>
              <a:t> 6.4 or </a:t>
            </a:r>
            <a:r>
              <a:rPr lang="en-US" dirty="0" smtClean="0"/>
              <a:t>higher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150495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confluence.atlassian.com/display/ENTERPRISE/Disaster+Recovery+Guide+for+JIRA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94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895350"/>
            <a:ext cx="7467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JIRA node must run on its own machine (physical or virtual), with a separate machine for the shared services. The shared services machine must be accessible by each </a:t>
            </a:r>
            <a:r>
              <a:rPr lang="en-US" dirty="0" smtClean="0"/>
              <a:t>node.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854432"/>
            <a:ext cx="7239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must be configured with the same </a:t>
            </a:r>
            <a:r>
              <a:rPr lang="en-US" dirty="0" err="1"/>
              <a:t>timezone</a:t>
            </a:r>
            <a:r>
              <a:rPr lang="en-US" dirty="0"/>
              <a:t> and keep the current time </a:t>
            </a:r>
            <a:r>
              <a:rPr lang="en-US" dirty="0" smtClean="0"/>
              <a:t>synchronized.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 needs to </a:t>
            </a:r>
            <a:r>
              <a:rPr lang="en-US" dirty="0" err="1" smtClean="0"/>
              <a:t>relogin</a:t>
            </a:r>
            <a:r>
              <a:rPr lang="en-US" dirty="0" smtClean="0"/>
              <a:t> if node gets inactive, we recommend </a:t>
            </a:r>
            <a:r>
              <a:rPr lang="en-US" dirty="0"/>
              <a:t>users check the </a:t>
            </a:r>
            <a:r>
              <a:rPr lang="en-US" dirty="0" smtClean="0"/>
              <a:t>“Remember me”.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03767" y="3397934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Please </a:t>
            </a:r>
            <a:r>
              <a:rPr lang="en-US" dirty="0"/>
              <a:t>also note that session based tasks such as 'bulk edit' will need to be restarted if a node goes down during the task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3400" y="4128016"/>
            <a:ext cx="70908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Tasks can be scheduled to run in all nodes or in one node only.</a:t>
            </a:r>
          </a:p>
        </p:txBody>
      </p:sp>
    </p:spTree>
    <p:extLst>
      <p:ext uri="{BB962C8B-B14F-4D97-AF65-F5344CB8AC3E}">
        <p14:creationId xmlns:p14="http://schemas.microsoft.com/office/powerpoint/2010/main" val="353905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LICENSE COST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819150"/>
            <a:ext cx="7315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 Center is an annual term license per Data Center instance and is $24,000 for every 1,000 users.  Data Center licenses do expire and </a:t>
            </a:r>
            <a:r>
              <a:rPr lang="en-US" b="1" dirty="0"/>
              <a:t>are not</a:t>
            </a:r>
            <a:r>
              <a:rPr lang="en-US" dirty="0"/>
              <a:t> perpetual like our server licenses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Upgrading existing </a:t>
            </a:r>
            <a:r>
              <a:rPr lang="en-US" dirty="0" err="1" smtClean="0"/>
              <a:t>jira</a:t>
            </a:r>
            <a:r>
              <a:rPr lang="en-US" dirty="0" smtClean="0"/>
              <a:t> license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54000"/>
              </p:ext>
            </p:extLst>
          </p:nvPr>
        </p:nvGraphicFramePr>
        <p:xfrm>
          <a:off x="609600" y="2268961"/>
          <a:ext cx="7924800" cy="388620"/>
        </p:xfrm>
        <a:graphic>
          <a:graphicData uri="http://schemas.openxmlformats.org/drawingml/2006/table">
            <a:tbl>
              <a:tblPr/>
              <a:tblGrid>
                <a:gridCol w="3962400"/>
                <a:gridCol w="3962400"/>
              </a:tblGrid>
              <a:tr h="378989"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From 501-2,000 Users</a:t>
                      </a:r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US $16,000</a:t>
                      </a:r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3400" y="2916768"/>
            <a:ext cx="731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You can refer below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www.atlassian.com/licensing/data-center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1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F31552-9344-4CED-8961-87F0A479EFA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PAIN POINTS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104775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Plugin Compatibility.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Jira Service Desk Compatibility.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Periodic Upgrades.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Plugin Development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1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alertrack light">
  <a:themeElements>
    <a:clrScheme name="dealertrack light">
      <a:dk1>
        <a:srgbClr val="1D2B34"/>
      </a:dk1>
      <a:lt1>
        <a:srgbClr val="FFFFFF"/>
      </a:lt1>
      <a:dk2>
        <a:srgbClr val="000000"/>
      </a:dk2>
      <a:lt2>
        <a:srgbClr val="F2F2F2"/>
      </a:lt2>
      <a:accent1>
        <a:srgbClr val="CCC7C0"/>
      </a:accent1>
      <a:accent2>
        <a:srgbClr val="999B98"/>
      </a:accent2>
      <a:accent3>
        <a:srgbClr val="5BB5E4"/>
      </a:accent3>
      <a:accent4>
        <a:srgbClr val="9AD2EE"/>
      </a:accent4>
      <a:accent5>
        <a:srgbClr val="5E6167"/>
      </a:accent5>
      <a:accent6>
        <a:srgbClr val="1D2B34"/>
      </a:accent6>
      <a:hlink>
        <a:srgbClr val="5BB5E4"/>
      </a:hlink>
      <a:folHlink>
        <a:srgbClr val="5BB5E4"/>
      </a:folHlink>
    </a:clrScheme>
    <a:fontScheme name="dealertra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alertrack dark (Onscreen Only)">
  <a:themeElements>
    <a:clrScheme name="dealertrack">
      <a:dk1>
        <a:srgbClr val="5E6167"/>
      </a:dk1>
      <a:lt1>
        <a:srgbClr val="FFFFFF"/>
      </a:lt1>
      <a:dk2>
        <a:srgbClr val="000000"/>
      </a:dk2>
      <a:lt2>
        <a:srgbClr val="F2F2F2"/>
      </a:lt2>
      <a:accent1>
        <a:srgbClr val="CCC7C0"/>
      </a:accent1>
      <a:accent2>
        <a:srgbClr val="999B98"/>
      </a:accent2>
      <a:accent3>
        <a:srgbClr val="5BB5E4"/>
      </a:accent3>
      <a:accent4>
        <a:srgbClr val="9AD2EE"/>
      </a:accent4>
      <a:accent5>
        <a:srgbClr val="5E6167"/>
      </a:accent5>
      <a:accent6>
        <a:srgbClr val="1D2B34"/>
      </a:accent6>
      <a:hlink>
        <a:srgbClr val="5BB5E4"/>
      </a:hlink>
      <a:folHlink>
        <a:srgbClr val="5BB5E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16239</TotalTime>
  <Words>448</Words>
  <Application>Microsoft Office PowerPoint</Application>
  <PresentationFormat>On-screen Show (16:9)</PresentationFormat>
  <Paragraphs>88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dealertrack light</vt:lpstr>
      <vt:lpstr>dealertrack dark (Onscreen Only)</vt:lpstr>
      <vt:lpstr>JIRA DATA CENTER</vt:lpstr>
      <vt:lpstr>FEATURES</vt:lpstr>
      <vt:lpstr>DIAGRAMATIC REPRESENTATION</vt:lpstr>
      <vt:lpstr>ARCHITECTURE</vt:lpstr>
      <vt:lpstr>Load Balancer</vt:lpstr>
      <vt:lpstr>Shared Storage</vt:lpstr>
      <vt:lpstr>INSTALLING JIRA DATA CENTER</vt:lpstr>
      <vt:lpstr>PowerPoint Presentation</vt:lpstr>
      <vt:lpstr>DISASTER RECOVERY </vt:lpstr>
      <vt:lpstr>RECOMMENDATIONS</vt:lpstr>
      <vt:lpstr>LICENSE COST </vt:lpstr>
      <vt:lpstr>PAIN POINTS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samlihanm</dc:creator>
  <cp:lastModifiedBy>Srinivasarajendra Kumar Pudi</cp:lastModifiedBy>
  <cp:revision>305</cp:revision>
  <dcterms:created xsi:type="dcterms:W3CDTF">2011-07-15T18:05:48Z</dcterms:created>
  <dcterms:modified xsi:type="dcterms:W3CDTF">2015-06-19T11:37:00Z</dcterms:modified>
</cp:coreProperties>
</file>